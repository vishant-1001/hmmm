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Vishant-1001/hmmm" TargetMode="External"/><Relationship Id="rId1" Type="http://schemas.openxmlformats.org/officeDocument/2006/relationships/image" Target="../media/image-6-1.png"/><Relationship Id="rId3" Type="http://schemas.openxmlformats.org/officeDocument/2006/relationships/image" Target="../media/image-6-2.png"/><Relationship Id="rId4" Type="http://schemas.openxmlformats.org/officeDocument/2006/relationships/image" Target="../media/image-6-3.png"/><Relationship Id="rId5" Type="http://schemas.openxmlformats.org/officeDocument/2006/relationships/image" Target="../media/image-6-4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365760" y="182880"/>
            <a:ext cx="7863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INDIA HACKATHON 2026</a:t>
            </a:r>
            <a:endParaRPr lang="en-US" sz="3000" dirty="0"/>
          </a:p>
        </p:txBody>
      </p:sp>
      <p:pic>
        <p:nvPicPr>
          <p:cNvPr id="3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84080" y="109728"/>
            <a:ext cx="2148840" cy="92354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365760" y="7498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5555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TITLE PAGE</a:t>
            </a:r>
            <a:endParaRPr lang="en-US" sz="130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1188720"/>
            <a:ext cx="67665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BUST SENTINEL</a:t>
            </a:r>
            <a:endParaRPr lang="en-US" sz="3800" dirty="0"/>
          </a:p>
        </p:txBody>
      </p:sp>
      <p:sp>
        <p:nvSpPr>
          <p:cNvPr id="6" name="Text 3"/>
          <p:cNvSpPr txBox="1"/>
          <p:nvPr/>
        </p:nvSpPr>
        <p:spPr>
          <a:xfrm>
            <a:off x="365760" y="187452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AI-Based Forecast Reliability Intelligence for Medium-Range Forecasts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365760" y="2286000"/>
            <a:ext cx="6675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reliability layer over an existing NWP ensemble: it estimates where and when (Day 1–10) the forecast is likely to incur a large error — it does not replace the forecast.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365760" y="2971800"/>
            <a:ext cx="676656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ID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SIH26079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Title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AI-Based Forecast Bust Detection for Medium-Range Weather Forecasts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Earth Sciences (MoES) — National Centre for Medium Range Weather Forecasting (NCMRWF)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Theme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Automation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Category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Software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ID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174190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Name (Registered on portal) – </a:t>
            </a:r>
            <a:pPr indent="0" marL="0">
              <a:spcAft>
                <a:spcPts val="7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OVER_CLOCKED</a:t>
            </a:r>
            <a:endParaRPr lang="en-US" sz="1400" dirty="0"/>
          </a:p>
        </p:txBody>
      </p:sp>
      <p:pic>
        <p:nvPicPr>
          <p:cNvPr id="9" name="Image 1" descr="/tmp/claude-1000/-home-vishant-forecast-bust-sentinel/dc2c974e-77bd-4d99-b537-754c3ef0efd7/scratchpad/shots/map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5165" y="1234440"/>
            <a:ext cx="4066391" cy="48006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7705165" y="1234440"/>
            <a:ext cx="4066391" cy="480060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7589520" y="6062472"/>
            <a:ext cx="4297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prototype output (historical replay, 2022-02-02 12 UTC): calibrated Day 3 bust risk over 64 native 5.625° regions (ECMWF IFS ENS via WeatherBench 2); outlined boxes = ERA5-verified busts after reveal.</a:t>
            </a:r>
            <a:endParaRPr lang="en-US" sz="850" dirty="0"/>
          </a:p>
        </p:txBody>
      </p:sp>
      <p:sp>
        <p:nvSpPr>
          <p:cNvPr id="12" name="Shape 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14" name="Text 10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1143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Bust Sentinel: Proposed Solution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035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We do not replace the NWP forecast — we estimate when it is likely to fail, show why, and learn from verified failures</a:t>
            </a:r>
            <a:endParaRPr lang="en-US" sz="1200" dirty="0"/>
          </a:p>
        </p:txBody>
      </p:sp>
      <p:pic>
        <p:nvPicPr>
          <p:cNvPr id="6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3152"/>
            <a:ext cx="187452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1005840"/>
            <a:ext cx="3785616" cy="310896"/>
          </a:xfrm>
          <a:prstGeom prst="rect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100584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Forecast Reliability Challenge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4206240" y="1005840"/>
            <a:ext cx="3785616" cy="310896"/>
          </a:xfrm>
          <a:prstGeom prst="rect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297680" y="100584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Forecast Bust Sentinel Works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8183880" y="1005840"/>
            <a:ext cx="3785616" cy="310896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75320" y="1005840"/>
            <a:ext cx="36027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Project-Level Differentiation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228600" y="1371600"/>
            <a:ext cx="3785616" cy="697230"/>
          </a:xfrm>
          <a:prstGeom prst="roundRect">
            <a:avLst>
              <a:gd name="adj" fmla="val 7869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01752" y="1399032"/>
            <a:ext cx="3639312" cy="64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Busts in rapidly evolving systems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Monsoon depressions, WDs, cyclones, heat waves, active/break phases → large medium-range errors that affect operational decisions.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228600" y="2151126"/>
            <a:ext cx="3785616" cy="697230"/>
          </a:xfrm>
          <a:prstGeom prst="roundRect">
            <a:avLst>
              <a:gd name="adj" fmla="val 7869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01752" y="2178558"/>
            <a:ext cx="3639312" cy="64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Ensemble spread helps — but is not enough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IFS ENS spread–error correlation only 0.21 (Day 1) to 0.56 (Day 10) over our target regions (2022).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228600" y="2930652"/>
            <a:ext cx="3785616" cy="697230"/>
          </a:xfrm>
          <a:prstGeom prst="roundRect">
            <a:avLst>
              <a:gd name="adj" fmla="val 7869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1752" y="2958084"/>
            <a:ext cx="3639312" cy="64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Region × lead-time reliability gap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Forecasters need WHERE and WHEN to be cautious, per region, Day 1–10 — not one global skill score.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228600" y="3710178"/>
            <a:ext cx="3785616" cy="697230"/>
          </a:xfrm>
          <a:prstGeom prst="roundRect">
            <a:avLst>
              <a:gd name="adj" fmla="val 7869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301752" y="3737610"/>
            <a:ext cx="3639312" cy="64236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b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History as evidence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errors of similar past forecast states are rarely available at forecast time.</a:t>
            </a:r>
            <a:endParaRPr lang="en-US" sz="1200" dirty="0"/>
          </a:p>
        </p:txBody>
      </p:sp>
      <p:sp>
        <p:nvSpPr>
          <p:cNvPr id="24" name="Shape 21"/>
          <p:cNvSpPr/>
          <p:nvPr/>
        </p:nvSpPr>
        <p:spPr>
          <a:xfrm>
            <a:off x="4206240" y="1371600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4297680" y="1439266"/>
            <a:ext cx="420624" cy="420624"/>
          </a:xfrm>
          <a:prstGeom prst="ellips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297680" y="143926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200" dirty="0"/>
          </a:p>
        </p:txBody>
      </p:sp>
      <p:sp>
        <p:nvSpPr>
          <p:cNvPr id="27" name="Text 24"/>
          <p:cNvSpPr txBox="1"/>
          <p:nvPr/>
        </p:nvSpPr>
        <p:spPr>
          <a:xfrm>
            <a:off x="4800600" y="1371600"/>
            <a:ext cx="3127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E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CHARACTERIZE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NWP forecast + ensemble behaviour + atmospheric state</a:t>
            </a:r>
            <a:endParaRPr lang="en-US" sz="1200" dirty="0"/>
          </a:p>
        </p:txBody>
      </p:sp>
      <p:sp>
        <p:nvSpPr>
          <p:cNvPr id="28" name="Shape 25"/>
          <p:cNvSpPr/>
          <p:nvPr/>
        </p:nvSpPr>
        <p:spPr>
          <a:xfrm>
            <a:off x="4206240" y="1991563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4297680" y="2059229"/>
            <a:ext cx="420624" cy="420624"/>
          </a:xfrm>
          <a:prstGeom prst="ellips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297680" y="2059229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4800600" y="1991563"/>
            <a:ext cx="3127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E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bust probability per region, Day 1–10</a:t>
            </a:r>
            <a:endParaRPr lang="en-US" sz="1200" dirty="0"/>
          </a:p>
        </p:txBody>
      </p:sp>
      <p:sp>
        <p:nvSpPr>
          <p:cNvPr id="32" name="Shape 29"/>
          <p:cNvSpPr/>
          <p:nvPr/>
        </p:nvSpPr>
        <p:spPr>
          <a:xfrm>
            <a:off x="4206240" y="2611526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4297680" y="2679192"/>
            <a:ext cx="420624" cy="420624"/>
          </a:xfrm>
          <a:prstGeom prst="ellips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29768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200" dirty="0"/>
          </a:p>
        </p:txBody>
      </p:sp>
      <p:sp>
        <p:nvSpPr>
          <p:cNvPr id="35" name="Text 32"/>
          <p:cNvSpPr txBox="1"/>
          <p:nvPr/>
        </p:nvSpPr>
        <p:spPr>
          <a:xfrm>
            <a:off x="4800600" y="2611526"/>
            <a:ext cx="3127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E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CONTEXTUALIZE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with strong spread-only baseline (B2) + retrieve similar historical forecast states</a:t>
            </a:r>
            <a:endParaRPr lang="en-US" sz="1200" dirty="0"/>
          </a:p>
        </p:txBody>
      </p:sp>
      <p:sp>
        <p:nvSpPr>
          <p:cNvPr id="36" name="Shape 33"/>
          <p:cNvSpPr/>
          <p:nvPr/>
        </p:nvSpPr>
        <p:spPr>
          <a:xfrm>
            <a:off x="4206240" y="3231490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4297680" y="3299155"/>
            <a:ext cx="420624" cy="420624"/>
          </a:xfrm>
          <a:prstGeom prst="ellips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4297680" y="3299155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200" dirty="0"/>
          </a:p>
        </p:txBody>
      </p:sp>
      <p:sp>
        <p:nvSpPr>
          <p:cNvPr id="39" name="Text 36"/>
          <p:cNvSpPr txBox="1"/>
          <p:nvPr/>
        </p:nvSpPr>
        <p:spPr>
          <a:xfrm>
            <a:off x="4800600" y="3231490"/>
            <a:ext cx="3127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E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QUALIFY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Support/OOD + evidence strength + attribution + forecaster review priority</a:t>
            </a:r>
            <a:endParaRPr lang="en-US" sz="1200" dirty="0"/>
          </a:p>
        </p:txBody>
      </p:sp>
      <p:sp>
        <p:nvSpPr>
          <p:cNvPr id="40" name="Shape 37"/>
          <p:cNvSpPr/>
          <p:nvPr/>
        </p:nvSpPr>
        <p:spPr>
          <a:xfrm>
            <a:off x="4206240" y="3851453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4297680" y="3919118"/>
            <a:ext cx="420624" cy="420624"/>
          </a:xfrm>
          <a:prstGeom prst="ellips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4297680" y="391911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200" dirty="0"/>
          </a:p>
        </p:txBody>
      </p:sp>
      <p:sp>
        <p:nvSpPr>
          <p:cNvPr id="43" name="Text 40"/>
          <p:cNvSpPr txBox="1"/>
          <p:nvPr/>
        </p:nvSpPr>
        <p:spPr>
          <a:xfrm>
            <a:off x="4800600" y="3851453"/>
            <a:ext cx="3127248" cy="55595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5E3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VERIFY &amp; REMEMBER</a:t>
            </a:r>
            <a:endParaRPr lang="en-US" sz="1200" dirty="0"/>
          </a:p>
          <a:p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verification + failure fingerprint + expanding historical memory</a:t>
            </a:r>
            <a:endParaRPr lang="en-US" sz="1200" dirty="0"/>
          </a:p>
        </p:txBody>
      </p:sp>
      <p:sp>
        <p:nvSpPr>
          <p:cNvPr id="44" name="Shape 41"/>
          <p:cNvSpPr/>
          <p:nvPr/>
        </p:nvSpPr>
        <p:spPr>
          <a:xfrm>
            <a:off x="8183880" y="1371600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257032" y="1399032"/>
            <a:ext cx="3639312" cy="501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Conditional Reliability Layer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the current forecast state imply about its reliability?”</a:t>
            </a:r>
            <a:endParaRPr lang="en-US" sz="1150" dirty="0"/>
          </a:p>
        </p:txBody>
      </p:sp>
      <p:sp>
        <p:nvSpPr>
          <p:cNvPr id="46" name="Shape 43"/>
          <p:cNvSpPr/>
          <p:nvPr/>
        </p:nvSpPr>
        <p:spPr>
          <a:xfrm>
            <a:off x="8183880" y="1991563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257032" y="2018995"/>
            <a:ext cx="3639312" cy="501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Historical Forecast-State Memory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happened when previous forecasts looked like this?”</a:t>
            </a:r>
            <a:endParaRPr lang="en-US" sz="1150" dirty="0"/>
          </a:p>
        </p:txBody>
      </p:sp>
      <p:sp>
        <p:nvSpPr>
          <p:cNvPr id="48" name="Shape 45"/>
          <p:cNvSpPr/>
          <p:nvPr/>
        </p:nvSpPr>
        <p:spPr>
          <a:xfrm>
            <a:off x="8183880" y="2611526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257032" y="2638958"/>
            <a:ext cx="3639312" cy="501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Spread-vs-Sentinel Disagreement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“What does the richer model see that spread alone does not — and vice versa?”</a:t>
            </a:r>
            <a:endParaRPr lang="en-US" sz="1150" dirty="0"/>
          </a:p>
        </p:txBody>
      </p:sp>
      <p:sp>
        <p:nvSpPr>
          <p:cNvPr id="50" name="Shape 47"/>
          <p:cNvSpPr/>
          <p:nvPr/>
        </p:nvSpPr>
        <p:spPr>
          <a:xfrm>
            <a:off x="8183880" y="3231490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8257032" y="3258922"/>
            <a:ext cx="3639312" cy="501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Evidence-Aware Reliability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“Is the risk strongly supported or based on weak precedent?”</a:t>
            </a:r>
            <a:endParaRPr lang="en-US" sz="1150" dirty="0"/>
          </a:p>
        </p:txBody>
      </p:sp>
      <p:sp>
        <p:nvSpPr>
          <p:cNvPr id="52" name="Shape 49"/>
          <p:cNvSpPr/>
          <p:nvPr/>
        </p:nvSpPr>
        <p:spPr>
          <a:xfrm>
            <a:off x="8183880" y="3851453"/>
            <a:ext cx="3785616" cy="555955"/>
          </a:xfrm>
          <a:prstGeom prst="roundRect">
            <a:avLst>
              <a:gd name="adj" fmla="val 986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8257032" y="3878885"/>
            <a:ext cx="3639312" cy="5010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5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Closed Verification Loop</a:t>
            </a:r>
            <a:endParaRPr lang="en-US" sz="11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→ verification → failure fingerprint → reusable memory</a:t>
            </a:r>
            <a:endParaRPr lang="en-US" sz="1150" dirty="0"/>
          </a:p>
        </p:txBody>
      </p:sp>
      <p:sp>
        <p:nvSpPr>
          <p:cNvPr id="54" name="Shape 51"/>
          <p:cNvSpPr/>
          <p:nvPr/>
        </p:nvSpPr>
        <p:spPr>
          <a:xfrm>
            <a:off x="228600" y="4507992"/>
            <a:ext cx="6446520" cy="1938528"/>
          </a:xfrm>
          <a:prstGeom prst="roundRect">
            <a:avLst>
              <a:gd name="adj" fmla="val 2830"/>
            </a:avLst>
          </a:prstGeom>
          <a:solidFill>
            <a:srgbClr val="F7F8FA"/>
          </a:solidFill>
          <a:ln w="9525">
            <a:solidFill>
              <a:srgbClr val="BFC5CF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320040" y="4526280"/>
            <a:ext cx="6309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prototype evidence (historical replay, real 2022 IFS ENS case)</a:t>
            </a:r>
            <a:endParaRPr lang="en-US" sz="1100" dirty="0"/>
          </a:p>
        </p:txBody>
      </p:sp>
      <p:pic>
        <p:nvPicPr>
          <p:cNvPr id="56" name="Image 1" descr="/tmp/claude-1000/-home-vishant-forecast-bust-sentinel/dc2c974e-77bd-4d99-b537-754c3ef0efd7/scratchpad/shots/map_on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6890" y="4764024"/>
            <a:ext cx="1177317" cy="1389888"/>
          </a:xfrm>
          <a:prstGeom prst="rect">
            <a:avLst/>
          </a:prstGeom>
        </p:spPr>
      </p:pic>
      <p:sp>
        <p:nvSpPr>
          <p:cNvPr id="57" name="Shape 53"/>
          <p:cNvSpPr/>
          <p:nvPr/>
        </p:nvSpPr>
        <p:spPr>
          <a:xfrm>
            <a:off x="366890" y="4764024"/>
            <a:ext cx="1177317" cy="1389888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8" name="Text 54"/>
          <p:cNvSpPr txBox="1"/>
          <p:nvPr/>
        </p:nvSpPr>
        <p:spPr>
          <a:xfrm>
            <a:off x="292608" y="6181344"/>
            <a:ext cx="1325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Day 3 risk map</a:t>
            </a:r>
            <a:endParaRPr lang="en-US" sz="850" dirty="0"/>
          </a:p>
        </p:txBody>
      </p:sp>
      <p:pic>
        <p:nvPicPr>
          <p:cNvPr id="59" name="Image 2" descr="/tmp/claude-1000/-home-vishant-forecast-bust-sentinel/dc2c974e-77bd-4d99-b537-754c3ef0efd7/scratchpad/shots/priority_reve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02368" y="4764024"/>
            <a:ext cx="1898784" cy="138988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1702368" y="4764024"/>
            <a:ext cx="1898784" cy="1389888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1" name="Text 56"/>
          <p:cNvSpPr txBox="1"/>
          <p:nvPr/>
        </p:nvSpPr>
        <p:spPr>
          <a:xfrm>
            <a:off x="1682496" y="6181344"/>
            <a:ext cx="19385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 priority + B2 + support, after reveal</a:t>
            </a:r>
            <a:endParaRPr lang="en-US" sz="850" dirty="0"/>
          </a:p>
        </p:txBody>
      </p:sp>
      <p:pic>
        <p:nvPicPr>
          <p:cNvPr id="62" name="Image 3" descr="/tmp/claude-1000/-home-vishant-forecast-bust-sentinel/dc2c974e-77bd-4d99-b537-754c3ef0efd7/scratchpad/shots/why_tex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927" y="4764024"/>
            <a:ext cx="2740291" cy="1389888"/>
          </a:xfrm>
          <a:prstGeom prst="rect">
            <a:avLst/>
          </a:prstGeom>
        </p:spPr>
      </p:pic>
      <p:sp>
        <p:nvSpPr>
          <p:cNvPr id="63" name="Shape 57"/>
          <p:cNvSpPr/>
          <p:nvPr/>
        </p:nvSpPr>
        <p:spPr>
          <a:xfrm>
            <a:off x="3777927" y="4764024"/>
            <a:ext cx="2740291" cy="1389888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64" name="Text 58"/>
          <p:cNvSpPr txBox="1"/>
          <p:nvPr/>
        </p:nvSpPr>
        <p:spPr>
          <a:xfrm>
            <a:off x="3685032" y="6181344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panel: number-backed evidence A–E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6812280" y="4507992"/>
            <a:ext cx="5148072" cy="1938528"/>
          </a:xfrm>
          <a:prstGeom prst="roundRect">
            <a:avLst>
              <a:gd name="adj" fmla="val 2830"/>
            </a:avLst>
          </a:prstGeom>
          <a:solidFill>
            <a:srgbClr val="FFFFFF"/>
          </a:solidFill>
          <a:ln w="9525">
            <a:solidFill>
              <a:srgbClr val="BFC5CF"/>
            </a:solidFill>
            <a:prstDash val="solid"/>
          </a:ln>
        </p:spPr>
      </p:sp>
      <p:sp>
        <p:nvSpPr>
          <p:cNvPr id="66" name="Text 60"/>
          <p:cNvSpPr txBox="1"/>
          <p:nvPr/>
        </p:nvSpPr>
        <p:spPr>
          <a:xfrm>
            <a:off x="6903720" y="4526280"/>
            <a:ext cx="4965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B2A7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Where the differentiation lies — the integrated workflow</a:t>
            </a:r>
            <a:endParaRPr lang="en-US" sz="1100" dirty="0"/>
          </a:p>
        </p:txBody>
      </p:sp>
      <p:sp>
        <p:nvSpPr>
          <p:cNvPr id="67" name="Shape 61"/>
          <p:cNvSpPr/>
          <p:nvPr/>
        </p:nvSpPr>
        <p:spPr>
          <a:xfrm>
            <a:off x="6903720" y="4809744"/>
            <a:ext cx="905256" cy="310896"/>
          </a:xfrm>
          <a:prstGeom prst="roundRect">
            <a:avLst>
              <a:gd name="adj" fmla="val 14706"/>
            </a:avLst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68" name="Text 62"/>
          <p:cNvSpPr txBox="1"/>
          <p:nvPr/>
        </p:nvSpPr>
        <p:spPr>
          <a:xfrm>
            <a:off x="6903720" y="4809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 BASELINE</a:t>
            </a:r>
            <a:endParaRPr lang="en-US" sz="850" dirty="0"/>
          </a:p>
        </p:txBody>
      </p:sp>
      <p:sp>
        <p:nvSpPr>
          <p:cNvPr id="69" name="Text 63"/>
          <p:cNvSpPr txBox="1"/>
          <p:nvPr/>
        </p:nvSpPr>
        <p:spPr>
          <a:xfrm>
            <a:off x="6903720" y="5148072"/>
            <a:ext cx="905256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ensemble uncertainty suggest?</a:t>
            </a:r>
            <a:endParaRPr lang="en-US" sz="900" dirty="0"/>
          </a:p>
        </p:txBody>
      </p:sp>
      <p:sp>
        <p:nvSpPr>
          <p:cNvPr id="70" name="Shape 64"/>
          <p:cNvSpPr/>
          <p:nvPr/>
        </p:nvSpPr>
        <p:spPr>
          <a:xfrm rot="5400000">
            <a:off x="7822692" y="4919472"/>
            <a:ext cx="82296" cy="90526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1" name="Shape 65"/>
          <p:cNvSpPr/>
          <p:nvPr/>
        </p:nvSpPr>
        <p:spPr>
          <a:xfrm>
            <a:off x="7918704" y="4809744"/>
            <a:ext cx="905256" cy="310896"/>
          </a:xfrm>
          <a:prstGeom prst="roundRect">
            <a:avLst>
              <a:gd name="adj" fmla="val 14706"/>
            </a:avLst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72" name="Text 66"/>
          <p:cNvSpPr txBox="1"/>
          <p:nvPr/>
        </p:nvSpPr>
        <p:spPr>
          <a:xfrm>
            <a:off x="7918704" y="4809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850" dirty="0"/>
          </a:p>
        </p:txBody>
      </p:sp>
      <p:sp>
        <p:nvSpPr>
          <p:cNvPr id="73" name="Text 67"/>
          <p:cNvSpPr txBox="1"/>
          <p:nvPr/>
        </p:nvSpPr>
        <p:spPr>
          <a:xfrm>
            <a:off x="7918704" y="5148072"/>
            <a:ext cx="905256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 forecast state + historical behaviour suggest?</a:t>
            </a:r>
            <a:endParaRPr lang="en-US" sz="900" dirty="0"/>
          </a:p>
        </p:txBody>
      </p:sp>
      <p:sp>
        <p:nvSpPr>
          <p:cNvPr id="74" name="Shape 68"/>
          <p:cNvSpPr/>
          <p:nvPr/>
        </p:nvSpPr>
        <p:spPr>
          <a:xfrm rot="5400000">
            <a:off x="8837676" y="4919472"/>
            <a:ext cx="82296" cy="90526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5" name="Shape 69"/>
          <p:cNvSpPr/>
          <p:nvPr/>
        </p:nvSpPr>
        <p:spPr>
          <a:xfrm>
            <a:off x="8933688" y="4809744"/>
            <a:ext cx="905256" cy="310896"/>
          </a:xfrm>
          <a:prstGeom prst="roundRect">
            <a:avLst>
              <a:gd name="adj" fmla="val 14706"/>
            </a:avLst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76" name="Text 70"/>
          <p:cNvSpPr txBox="1"/>
          <p:nvPr/>
        </p:nvSpPr>
        <p:spPr>
          <a:xfrm>
            <a:off x="8933688" y="4809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850" dirty="0"/>
          </a:p>
        </p:txBody>
      </p:sp>
      <p:sp>
        <p:nvSpPr>
          <p:cNvPr id="77" name="Text 71"/>
          <p:cNvSpPr txBox="1"/>
          <p:nvPr/>
        </p:nvSpPr>
        <p:spPr>
          <a:xfrm>
            <a:off x="8933688" y="5148072"/>
            <a:ext cx="905256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strong is the historical evidence?</a:t>
            </a:r>
            <a:endParaRPr lang="en-US" sz="900" dirty="0"/>
          </a:p>
        </p:txBody>
      </p:sp>
      <p:sp>
        <p:nvSpPr>
          <p:cNvPr id="78" name="Shape 72"/>
          <p:cNvSpPr/>
          <p:nvPr/>
        </p:nvSpPr>
        <p:spPr>
          <a:xfrm rot="5400000">
            <a:off x="9852660" y="4919472"/>
            <a:ext cx="82296" cy="90526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9948672" y="4809744"/>
            <a:ext cx="905256" cy="310896"/>
          </a:xfrm>
          <a:prstGeom prst="roundRect">
            <a:avLst>
              <a:gd name="adj" fmla="val 14706"/>
            </a:avLst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9948672" y="4809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850" dirty="0"/>
          </a:p>
        </p:txBody>
      </p:sp>
      <p:sp>
        <p:nvSpPr>
          <p:cNvPr id="81" name="Text 75"/>
          <p:cNvSpPr txBox="1"/>
          <p:nvPr/>
        </p:nvSpPr>
        <p:spPr>
          <a:xfrm>
            <a:off x="9948672" y="5148072"/>
            <a:ext cx="905256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actually happened?</a:t>
            </a:r>
            <a:endParaRPr lang="en-US" sz="900" dirty="0"/>
          </a:p>
        </p:txBody>
      </p:sp>
      <p:sp>
        <p:nvSpPr>
          <p:cNvPr id="82" name="Shape 76"/>
          <p:cNvSpPr/>
          <p:nvPr/>
        </p:nvSpPr>
        <p:spPr>
          <a:xfrm rot="5400000">
            <a:off x="10867644" y="4919472"/>
            <a:ext cx="82296" cy="90526"/>
          </a:xfrm>
          <a:prstGeom prst="triangle">
            <a:avLst/>
          </a:prstGeom>
          <a:solidFill>
            <a:srgbClr val="7F7F7F"/>
          </a:solidFill>
          <a:ln w="12700">
            <a:solidFill>
              <a:srgbClr val="7F7F7F"/>
            </a:solidFill>
            <a:prstDash val="solid"/>
          </a:ln>
        </p:spPr>
      </p:sp>
      <p:sp>
        <p:nvSpPr>
          <p:cNvPr id="83" name="Shape 77"/>
          <p:cNvSpPr/>
          <p:nvPr/>
        </p:nvSpPr>
        <p:spPr>
          <a:xfrm>
            <a:off x="10963656" y="4809744"/>
            <a:ext cx="905256" cy="310896"/>
          </a:xfrm>
          <a:prstGeom prst="roundRect">
            <a:avLst>
              <a:gd name="adj" fmla="val 14706"/>
            </a:avLst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84" name="Text 78"/>
          <p:cNvSpPr txBox="1"/>
          <p:nvPr/>
        </p:nvSpPr>
        <p:spPr>
          <a:xfrm>
            <a:off x="10963656" y="4809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</a:t>
            </a:r>
            <a:endParaRPr lang="en-US" sz="850" dirty="0"/>
          </a:p>
        </p:txBody>
      </p:sp>
      <p:sp>
        <p:nvSpPr>
          <p:cNvPr id="85" name="Text 79"/>
          <p:cNvSpPr txBox="1"/>
          <p:nvPr/>
        </p:nvSpPr>
        <p:spPr>
          <a:xfrm>
            <a:off x="10963656" y="5148072"/>
            <a:ext cx="905256" cy="658368"/>
          </a:xfrm>
          <a:prstGeom prst="rect">
            <a:avLst/>
          </a:prstGeom>
          <a:noFill/>
          <a:ln/>
        </p:spPr>
        <p:txBody>
          <a:bodyPr wrap="square" lIns="12700" tIns="12700" rIns="12700" bIns="12700" rtlCol="0" anchor="t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to remember for a future similar state?</a:t>
            </a:r>
            <a:endParaRPr lang="en-US" sz="900" dirty="0"/>
          </a:p>
        </p:txBody>
      </p:sp>
      <p:sp>
        <p:nvSpPr>
          <p:cNvPr id="86" name="Text 80"/>
          <p:cNvSpPr txBox="1"/>
          <p:nvPr/>
        </p:nvSpPr>
        <p:spPr>
          <a:xfrm>
            <a:off x="6903720" y="5833872"/>
            <a:ext cx="49651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7B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status: </a:t>
            </a:r>
            <a:pPr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locked 2022 test, Sentinel matches the strong B2 spread baseline (AUPRC 0.136 both) — no skill gain claimed. The differentiation is the calibrated, evidence-qualified, verified workflow, not a new algorithm.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1143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TECHNICAL APPROACH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035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From a real 50-member ensemble to a calibrated, verified, explainable Day 1–10 reliability output</a:t>
            </a:r>
            <a:endParaRPr lang="en-US" sz="1200" dirty="0"/>
          </a:p>
        </p:txBody>
      </p:sp>
      <p:pic>
        <p:nvPicPr>
          <p:cNvPr id="6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3152"/>
            <a:ext cx="187452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987552"/>
            <a:ext cx="5788152" cy="292608"/>
          </a:xfrm>
          <a:prstGeom prst="rect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98755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 DATA &amp; VERIFICATION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" y="1307592"/>
            <a:ext cx="5788152" cy="1481328"/>
          </a:xfrm>
          <a:prstGeom prst="roundRect">
            <a:avLst>
              <a:gd name="adj" fmla="val 3704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320040" y="1389888"/>
            <a:ext cx="1261872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" y="1389888"/>
            <a:ext cx="1261872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ECMWF IFS ENS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 members, 2018–22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(WeatherBench 2)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 rot="5400000">
            <a:off x="1632204" y="1645920"/>
            <a:ext cx="82296" cy="90526"/>
          </a:xfrm>
          <a:prstGeom prst="triangl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1764792" y="1389888"/>
            <a:ext cx="1188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764792" y="1389888"/>
            <a:ext cx="11887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reference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 valid time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(init + lead)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 rot="5400000">
            <a:off x="3003804" y="1645920"/>
            <a:ext cx="82296" cy="90526"/>
          </a:xfrm>
          <a:prstGeom prst="triangl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136392" y="1389888"/>
            <a:ext cx="118872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3136392" y="1389888"/>
            <a:ext cx="118872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Area-weighted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Z500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RMSE, Day 1–10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 rot="5400000">
            <a:off x="4375404" y="1645920"/>
            <a:ext cx="82296" cy="90526"/>
          </a:xfrm>
          <a:prstGeom prst="triangle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07992" y="1389888"/>
            <a:ext cx="1097280" cy="603504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507992" y="1389888"/>
            <a:ext cx="1097280" cy="6035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error archive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(verified cases)</a:t>
            </a:r>
            <a:endParaRPr lang="en-US" sz="850" dirty="0"/>
          </a:p>
        </p:txBody>
      </p:sp>
      <p:sp>
        <p:nvSpPr>
          <p:cNvPr id="24" name="Text 21"/>
          <p:cNvSpPr txBox="1"/>
          <p:nvPr/>
        </p:nvSpPr>
        <p:spPr>
          <a:xfrm>
            <a:off x="320040" y="2057400"/>
            <a:ext cx="5605272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Grid: native 64×32 (5.625°) product — 64 target regions over 5°S–40°N, 60–105°E; wider context domain for features. Not 5°×5° (bandwidth-limited download).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is a reanalysis reference, not perfect truth. Anomaly climatology from ERA5 1990–2017 (pre-dates all experiment years).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172200" y="987552"/>
            <a:ext cx="5788152" cy="292608"/>
          </a:xfrm>
          <a:prstGeom prst="rect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63640" y="98755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 TARGET &amp; MODELLING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6172200" y="1307592"/>
            <a:ext cx="5788152" cy="1481328"/>
          </a:xfrm>
          <a:prstGeom prst="roundRect">
            <a:avLst>
              <a:gd name="adj" fmla="val 3704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263640" y="1389888"/>
            <a:ext cx="86868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263640" y="1389888"/>
            <a:ext cx="86868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 ×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1–10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 rot="5400000">
            <a:off x="7164324" y="1572768"/>
            <a:ext cx="82296" cy="90526"/>
          </a:xfrm>
          <a:prstGeom prst="triangl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7278624" y="1389888"/>
            <a:ext cx="91440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278624" y="1389888"/>
            <a:ext cx="9144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Z500 RMSE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 rot="5400000">
            <a:off x="8225028" y="1572768"/>
            <a:ext cx="82296" cy="90526"/>
          </a:xfrm>
          <a:prstGeom prst="triangl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339328" y="1389888"/>
            <a:ext cx="10515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339328" y="1389888"/>
            <a:ext cx="10515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TRAIN-derived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normalisation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 rot="5400000">
            <a:off x="9422892" y="1572768"/>
            <a:ext cx="82296" cy="90526"/>
          </a:xfrm>
          <a:prstGeom prst="triangl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9537192" y="1389888"/>
            <a:ext cx="128016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537192" y="1389888"/>
            <a:ext cx="12801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TRAIN-only Q90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(region·lead·season)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 rot="5400000">
            <a:off x="10849356" y="1572768"/>
            <a:ext cx="82296" cy="90526"/>
          </a:xfrm>
          <a:prstGeom prst="triangle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963656" y="1389888"/>
            <a:ext cx="658368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963656" y="1389888"/>
            <a:ext cx="658368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6263640" y="1938528"/>
            <a:ext cx="107899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6B7B6F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263640" y="1938528"/>
            <a:ext cx="107899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B0</a:t>
            </a:r>
            <a:endParaRPr lang="en-US" sz="11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Climatology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bust frequency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7397496" y="1938528"/>
            <a:ext cx="107899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6B7B6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7397496" y="1938528"/>
            <a:ext cx="107899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B1</a:t>
            </a:r>
            <a:endParaRPr lang="en-US" sz="11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spread-percentile score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8531352" y="1938528"/>
            <a:ext cx="126187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9525">
            <a:solidFill>
              <a:srgbClr val="6B7B6F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8531352" y="1938528"/>
            <a:ext cx="126187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B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B2</a:t>
            </a:r>
            <a:endParaRPr lang="en-US" sz="11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Calibrated spread-only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GBT + isotonic (strong)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9848088" y="1938528"/>
            <a:ext cx="2039112" cy="786384"/>
          </a:xfrm>
          <a:prstGeom prst="roundRect">
            <a:avLst>
              <a:gd name="adj" fmla="val 5814"/>
            </a:avLst>
          </a:prstGeom>
          <a:solidFill>
            <a:srgbClr val="FFFFFF"/>
          </a:solidFill>
          <a:ln w="19050">
            <a:solidFill>
              <a:srgbClr val="1E5E3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848088" y="1938528"/>
            <a:ext cx="2039112" cy="7863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Sentinel</a:t>
            </a:r>
            <a:endParaRPr lang="en-US" sz="1100" dirty="0"/>
          </a:p>
          <a:p>
            <a:pPr algn="ctr" indent="0" marL="0">
              <a:buNone/>
            </a:pPr>
            <a:r>
              <a:rPr lang="en-US" sz="8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Forecast-state model</a:t>
            </a:r>
            <a:endParaRPr lang="en-US" sz="11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shared XGBoost (CPU hist): region, lead, season + state features</a:t>
            </a:r>
            <a:endParaRPr lang="en-US" sz="1100" dirty="0"/>
          </a:p>
        </p:txBody>
      </p:sp>
      <p:sp>
        <p:nvSpPr>
          <p:cNvPr id="50" name="Shape 47"/>
          <p:cNvSpPr/>
          <p:nvPr/>
        </p:nvSpPr>
        <p:spPr>
          <a:xfrm>
            <a:off x="228600" y="2871216"/>
            <a:ext cx="578815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0040" y="2871216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 FEATURE INTELLIGENCE (forecast-initialisation info only)</a:t>
            </a:r>
            <a:endParaRPr lang="en-US" sz="1500" dirty="0"/>
          </a:p>
        </p:txBody>
      </p:sp>
      <p:sp>
        <p:nvSpPr>
          <p:cNvPr id="52" name="Shape 49"/>
          <p:cNvSpPr/>
          <p:nvPr/>
        </p:nvSpPr>
        <p:spPr>
          <a:xfrm>
            <a:off x="228600" y="3191256"/>
            <a:ext cx="5788152" cy="1463040"/>
          </a:xfrm>
          <a:prstGeom prst="roundRect">
            <a:avLst>
              <a:gd name="adj" fmla="val 3750"/>
            </a:avLst>
          </a:prstGeom>
          <a:solidFill>
            <a:srgbClr val="EE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320040" y="325526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ENSEMBLE BEHAVIOUR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spread, percentile, IQR, skew, member agreement</a:t>
            </a:r>
            <a:endParaRPr lang="en-US" sz="950" dirty="0"/>
          </a:p>
        </p:txBody>
      </p:sp>
      <p:sp>
        <p:nvSpPr>
          <p:cNvPr id="54" name="Text 51"/>
          <p:cNvSpPr txBox="1"/>
          <p:nvPr/>
        </p:nvSpPr>
        <p:spPr>
          <a:xfrm>
            <a:off x="3145536" y="325526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ATMOSPHERIC STATE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Z500/700/850 anomaly &amp; gradients (wind/MSLP: dev experiment, pending)</a:t>
            </a:r>
            <a:endParaRPr lang="en-US" sz="950" dirty="0"/>
          </a:p>
        </p:txBody>
      </p:sp>
      <p:sp>
        <p:nvSpPr>
          <p:cNvPr id="55" name="Text 52"/>
          <p:cNvSpPr txBox="1"/>
          <p:nvPr/>
        </p:nvSpPr>
        <p:spPr>
          <a:xfrm>
            <a:off x="320040" y="371246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LARGE-SCALE PATTERN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TRAIN-only PCA, 8 frozen components</a:t>
            </a:r>
            <a:endParaRPr lang="en-US" sz="950" dirty="0"/>
          </a:p>
        </p:txBody>
      </p:sp>
      <p:sp>
        <p:nvSpPr>
          <p:cNvPr id="56" name="Text 53"/>
          <p:cNvSpPr txBox="1"/>
          <p:nvPr/>
        </p:nvSpPr>
        <p:spPr>
          <a:xfrm>
            <a:off x="3145536" y="371246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 EVOLUTION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revision vs earlier cycle, same valid time</a:t>
            </a:r>
            <a:endParaRPr lang="en-US" sz="950" dirty="0"/>
          </a:p>
        </p:txBody>
      </p:sp>
      <p:sp>
        <p:nvSpPr>
          <p:cNvPr id="57" name="Text 54"/>
          <p:cNvSpPr txBox="1"/>
          <p:nvPr/>
        </p:nvSpPr>
        <p:spPr>
          <a:xfrm>
            <a:off x="320040" y="4169664"/>
            <a:ext cx="276148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MEMORY</a:t>
            </a:r>
            <a:endParaRPr lang="en-US" sz="950" dirty="0"/>
          </a:p>
          <a:p>
            <a:pPr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analogues (strictly earlier inits) + recent verified error</a:t>
            </a:r>
            <a:endParaRPr lang="en-US" sz="950" dirty="0"/>
          </a:p>
        </p:txBody>
      </p:sp>
      <p:sp>
        <p:nvSpPr>
          <p:cNvPr id="58" name="Text 55"/>
          <p:cNvSpPr txBox="1"/>
          <p:nvPr/>
        </p:nvSpPr>
        <p:spPr>
          <a:xfrm>
            <a:off x="3145536" y="4169664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i="1" dirty="0">
                <a:solidFill>
                  <a:srgbClr val="7B1E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fixed in advance: a group enters Sentinel only if it beats B2 on 2021 validation. None did → FULL uses B2 inputs.</a:t>
            </a:r>
            <a:endParaRPr lang="en-US" sz="850" dirty="0"/>
          </a:p>
        </p:txBody>
      </p:sp>
      <p:sp>
        <p:nvSpPr>
          <p:cNvPr id="59" name="Shape 56"/>
          <p:cNvSpPr/>
          <p:nvPr/>
        </p:nvSpPr>
        <p:spPr>
          <a:xfrm>
            <a:off x="6172200" y="2871216"/>
            <a:ext cx="5788152" cy="292608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0" name="Text 57"/>
          <p:cNvSpPr txBox="1"/>
          <p:nvPr/>
        </p:nvSpPr>
        <p:spPr>
          <a:xfrm>
            <a:off x="6263640" y="2871216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 VALIDATION &amp; TRUST — locked 2022 test, scored once</a:t>
            </a:r>
            <a:endParaRPr lang="en-US" sz="1500" dirty="0"/>
          </a:p>
        </p:txBody>
      </p:sp>
      <p:sp>
        <p:nvSpPr>
          <p:cNvPr id="61" name="Shape 58"/>
          <p:cNvSpPr/>
          <p:nvPr/>
        </p:nvSpPr>
        <p:spPr>
          <a:xfrm>
            <a:off x="6172200" y="3191256"/>
            <a:ext cx="5788152" cy="1463040"/>
          </a:xfrm>
          <a:prstGeom prst="roundRect">
            <a:avLst>
              <a:gd name="adj" fmla="val 3750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6263640" y="3246120"/>
            <a:ext cx="182880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3" name="Text 60"/>
          <p:cNvSpPr txBox="1"/>
          <p:nvPr/>
        </p:nvSpPr>
        <p:spPr>
          <a:xfrm>
            <a:off x="6263640" y="3246120"/>
            <a:ext cx="182880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2018–20 (1,096 inits)</a:t>
            </a:r>
            <a:endParaRPr lang="en-US" sz="850" dirty="0"/>
          </a:p>
        </p:txBody>
      </p:sp>
      <p:sp>
        <p:nvSpPr>
          <p:cNvPr id="64" name="Shape 61"/>
          <p:cNvSpPr/>
          <p:nvPr/>
        </p:nvSpPr>
        <p:spPr>
          <a:xfrm rot="5400000">
            <a:off x="8142732" y="3346704"/>
            <a:ext cx="82296" cy="90526"/>
          </a:xfrm>
          <a:prstGeom prst="triangl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5" name="Shape 62"/>
          <p:cNvSpPr/>
          <p:nvPr/>
        </p:nvSpPr>
        <p:spPr>
          <a:xfrm>
            <a:off x="8275320" y="3246120"/>
            <a:ext cx="155448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8275320" y="3246120"/>
            <a:ext cx="155448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 2021 (364)</a:t>
            </a:r>
            <a:endParaRPr lang="en-US" sz="850" dirty="0"/>
          </a:p>
        </p:txBody>
      </p:sp>
      <p:sp>
        <p:nvSpPr>
          <p:cNvPr id="67" name="Shape 64"/>
          <p:cNvSpPr/>
          <p:nvPr/>
        </p:nvSpPr>
        <p:spPr>
          <a:xfrm rot="5400000">
            <a:off x="9880092" y="3346704"/>
            <a:ext cx="82296" cy="90526"/>
          </a:xfrm>
          <a:prstGeom prst="triangl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8" name="Shape 65"/>
          <p:cNvSpPr/>
          <p:nvPr/>
        </p:nvSpPr>
        <p:spPr>
          <a:xfrm>
            <a:off x="10012680" y="3246120"/>
            <a:ext cx="173736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012680" y="3246120"/>
            <a:ext cx="1737360" cy="29260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Locked test 2022 (366)</a:t>
            </a:r>
            <a:endParaRPr lang="en-US" sz="85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3640" y="3593592"/>
          <a:ext cx="5605272" cy="914400"/>
        </p:xfrm>
        <a:graphic>
          <a:graphicData uri="http://schemas.openxmlformats.org/drawingml/2006/table">
            <a:tbl>
              <a:tblPr/>
              <a:tblGrid>
                <a:gridCol w="1307592"/>
                <a:gridCol w="566928"/>
                <a:gridCol w="640080"/>
                <a:gridCol w="640080"/>
                <a:gridCol w="603504"/>
                <a:gridCol w="841248"/>
                <a:gridCol w="1005840"/>
              </a:tblGrid>
              <a:tr h="1417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2022 test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AUPRC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ROC AUC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Brier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ECE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Rec@10%FAR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Hidden-bust rec.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B2A7B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B0 climatology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0.517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0.0804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0.0134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0.073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B1 spread score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0.195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B2 calibrated spread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417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Sentinel (FULL)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0.136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0.609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0.0791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0.0072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0.198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dirty="0">
                          <a:solidFill>
                            <a:srgbClr val="1A1A1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0.000</a:t>
                      </a:r>
                      <a:endParaRPr lang="en-US" sz="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8288" marR="18288" marT="18288" marB="18288">
                    <a:lnL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9C2D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1" name="Text 67"/>
          <p:cNvSpPr txBox="1"/>
          <p:nvPr/>
        </p:nvSpPr>
        <p:spPr>
          <a:xfrm>
            <a:off x="6263640" y="4379976"/>
            <a:ext cx="56052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 base rate 0.088 · 234,240 region×day cases · warning lead of detected busts 6.3 d · spatial Jaccard 0.082 · spread-skill ratio 0.79→~1.0</a:t>
            </a:r>
            <a:endParaRPr lang="en-US" sz="800" dirty="0"/>
          </a:p>
        </p:txBody>
      </p:sp>
      <p:sp>
        <p:nvSpPr>
          <p:cNvPr id="72" name="Shape 68"/>
          <p:cNvSpPr/>
          <p:nvPr/>
        </p:nvSpPr>
        <p:spPr>
          <a:xfrm>
            <a:off x="228600" y="4736592"/>
            <a:ext cx="11731752" cy="274320"/>
          </a:xfrm>
          <a:prstGeom prst="rect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73" name="Text 69"/>
          <p:cNvSpPr txBox="1"/>
          <p:nvPr/>
        </p:nvSpPr>
        <p:spPr>
          <a:xfrm>
            <a:off x="320040" y="4736592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5   PROTOTYPE: FastAPI + React dashboard on precomputed real 2022 replay cases</a:t>
            </a:r>
            <a:endParaRPr lang="en-US" sz="1500" dirty="0"/>
          </a:p>
        </p:txBody>
      </p:sp>
      <p:pic>
        <p:nvPicPr>
          <p:cNvPr id="74" name="Image 1" descr="/tmp/claude-1000/-home-vishant-forecast-bust-sentinel/dc2c974e-77bd-4d99-b537-754c3ef0efd7/scratchpad/shots/traj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0673" y="5056632"/>
            <a:ext cx="1510374" cy="1188720"/>
          </a:xfrm>
          <a:prstGeom prst="rect">
            <a:avLst/>
          </a:prstGeom>
        </p:spPr>
      </p:pic>
      <p:sp>
        <p:nvSpPr>
          <p:cNvPr id="75" name="Shape 70"/>
          <p:cNvSpPr/>
          <p:nvPr/>
        </p:nvSpPr>
        <p:spPr>
          <a:xfrm>
            <a:off x="410673" y="5056632"/>
            <a:ext cx="1510374" cy="118872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228600" y="6272784"/>
            <a:ext cx="1874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1–10 trajectory vs B2 + verified error</a:t>
            </a:r>
            <a:endParaRPr lang="en-US" sz="850" dirty="0"/>
          </a:p>
        </p:txBody>
      </p:sp>
      <p:pic>
        <p:nvPicPr>
          <p:cNvPr id="77" name="Image 2" descr="/tmp/claude-1000/-home-vishant-forecast-bust-sentinel/dc2c974e-77bd-4d99-b537-754c3ef0efd7/scratchpad/shots/why_si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26940" y="5056632"/>
            <a:ext cx="1874936" cy="1188720"/>
          </a:xfrm>
          <a:prstGeom prst="rect">
            <a:avLst/>
          </a:prstGeom>
        </p:spPr>
      </p:pic>
      <p:sp>
        <p:nvSpPr>
          <p:cNvPr id="78" name="Shape 72"/>
          <p:cNvSpPr/>
          <p:nvPr/>
        </p:nvSpPr>
        <p:spPr>
          <a:xfrm>
            <a:off x="2326940" y="5056632"/>
            <a:ext cx="1874936" cy="118872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79" name="Text 73"/>
          <p:cNvSpPr txBox="1"/>
          <p:nvPr/>
        </p:nvSpPr>
        <p:spPr>
          <a:xfrm>
            <a:off x="2212848" y="6272784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Attribution + failure signature</a:t>
            </a:r>
            <a:endParaRPr lang="en-US" sz="850" dirty="0"/>
          </a:p>
        </p:txBody>
      </p:sp>
      <p:pic>
        <p:nvPicPr>
          <p:cNvPr id="80" name="Image 3" descr="/tmp/claude-1000/-home-vishant-forecast-bust-sentinel/dc2c974e-77bd-4d99-b537-754c3ef0efd7/scratchpad/shots/an_headli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26772" y="5056632"/>
            <a:ext cx="2741048" cy="1188720"/>
          </a:xfrm>
          <a:prstGeom prst="rect">
            <a:avLst/>
          </a:prstGeom>
        </p:spPr>
      </p:pic>
      <p:sp>
        <p:nvSpPr>
          <p:cNvPr id="81" name="Shape 74"/>
          <p:cNvSpPr/>
          <p:nvPr/>
        </p:nvSpPr>
        <p:spPr>
          <a:xfrm>
            <a:off x="4426772" y="5056632"/>
            <a:ext cx="2741048" cy="118872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2" name="Text 75"/>
          <p:cNvSpPr txBox="1"/>
          <p:nvPr/>
        </p:nvSpPr>
        <p:spPr>
          <a:xfrm>
            <a:off x="4425696" y="6272784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Analytics: pre-registered Sentinel-vs-B2 test</a:t>
            </a:r>
            <a:endParaRPr lang="en-US" sz="850" dirty="0"/>
          </a:p>
        </p:txBody>
      </p:sp>
      <p:pic>
        <p:nvPicPr>
          <p:cNvPr id="83" name="Image 4" descr="/tmp/claude-1000/-home-vishant-forecast-bust-sentinel/dc2c974e-77bd-4d99-b537-754c3ef0efd7/scratchpad/shots/an_calib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78624" y="5057267"/>
            <a:ext cx="2331720" cy="1187450"/>
          </a:xfrm>
          <a:prstGeom prst="rect">
            <a:avLst/>
          </a:prstGeom>
        </p:spPr>
      </p:pic>
      <p:sp>
        <p:nvSpPr>
          <p:cNvPr id="84" name="Shape 76"/>
          <p:cNvSpPr/>
          <p:nvPr/>
        </p:nvSpPr>
        <p:spPr>
          <a:xfrm>
            <a:off x="7278624" y="5057267"/>
            <a:ext cx="2331720" cy="118745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85" name="Text 77"/>
          <p:cNvSpPr txBox="1"/>
          <p:nvPr/>
        </p:nvSpPr>
        <p:spPr>
          <a:xfrm>
            <a:off x="7278624" y="6272784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Calibration (validation-fit isotonic)</a:t>
            </a:r>
            <a:endParaRPr lang="en-US" sz="850" dirty="0"/>
          </a:p>
        </p:txBody>
      </p:sp>
      <p:sp>
        <p:nvSpPr>
          <p:cNvPr id="86" name="Shape 78"/>
          <p:cNvSpPr/>
          <p:nvPr/>
        </p:nvSpPr>
        <p:spPr>
          <a:xfrm>
            <a:off x="9729216" y="5056632"/>
            <a:ext cx="2231136" cy="1389888"/>
          </a:xfrm>
          <a:prstGeom prst="roundRect">
            <a:avLst>
              <a:gd name="adj" fmla="val 3947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87" name="Text 79"/>
          <p:cNvSpPr txBox="1"/>
          <p:nvPr/>
        </p:nvSpPr>
        <p:spPr>
          <a:xfrm>
            <a:off x="9784080" y="5084064"/>
            <a:ext cx="2139696" cy="1335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Stack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· xarray/Zarr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XGBoost (CPU) · isotonic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TreeSHAP attribution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· React/Vite</a:t>
            </a:r>
            <a:endParaRPr lang="en-US" sz="850" dirty="0"/>
          </a:p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 pytest + 3 vitest pass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1143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FEASIBILITY AND VIABILITY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035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and evaluated end-to-end on real historical data with a CPU-only pipeline</a:t>
            </a:r>
            <a:endParaRPr lang="en-US" sz="1200" dirty="0"/>
          </a:p>
        </p:txBody>
      </p:sp>
      <p:pic>
        <p:nvPicPr>
          <p:cNvPr id="6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3152"/>
            <a:ext cx="187452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987552"/>
            <a:ext cx="5788152" cy="292608"/>
          </a:xfrm>
          <a:prstGeom prst="rect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98755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 FEASIBILITY — demonstrated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" y="1325880"/>
            <a:ext cx="5788152" cy="2212848"/>
          </a:xfrm>
          <a:prstGeom prst="roundRect">
            <a:avLst>
              <a:gd name="adj" fmla="val 2479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1752" y="1353312"/>
            <a:ext cx="564184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data: 5 years of 50-member ECMWF IFS ENS + ERA5 (WeatherBench 2), 457/457 chunks downloaded (~4.5 GB).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CPU-friendly: one shared gradient-boosted model, no GPU; full train→evaluate→replay→UI via scripts/run_all.sh.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Modular ingestion: ForecastSourceAdapter interface (IFS ENS adapter live; NCMRWF boundary defined).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Reproducible: manifests, frozen thresholds/PCA/calibrators, seeds, software versions persisted.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Precomputed replay: 12 real 2022 cases, blind forecast file + separately served verification.</a:t>
            </a:r>
            <a:endParaRPr lang="en-US" sz="200" dirty="0"/>
          </a:p>
        </p:txBody>
      </p:sp>
      <p:sp>
        <p:nvSpPr>
          <p:cNvPr id="14" name="Shape 11"/>
          <p:cNvSpPr/>
          <p:nvPr/>
        </p:nvSpPr>
        <p:spPr>
          <a:xfrm>
            <a:off x="6172200" y="987552"/>
            <a:ext cx="5788152" cy="292608"/>
          </a:xfrm>
          <a:prstGeom prst="rect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263640" y="987552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 KEY CHALLENGES — stated honestly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6172200" y="1325880"/>
            <a:ext cx="5788152" cy="2212848"/>
          </a:xfrm>
          <a:prstGeom prst="roundRect">
            <a:avLst>
              <a:gd name="adj" fmla="val 2479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245352" y="1353312"/>
            <a:ext cx="5641848" cy="21579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NCMRWF NEPS data accessible yet → not integrated or evaluated on NCMRWF output.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Variables: geopotential only so far; wind/MSLP/vorticity features in a dev-split experiment (pending).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Predictability ceiling: on 2022, Sentinel did not beat spread-only B2; hidden busts (low spread) not detected.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Weak historical support for novel states; one test year; research archive ≠ operational performance.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Resolution: native 5.625° boxes (~1 MB/s link), not 5°×5° or high-resolution local output.</a:t>
            </a:r>
            <a:endParaRPr lang="en-US" sz="200" dirty="0"/>
          </a:p>
        </p:txBody>
      </p:sp>
      <p:sp>
        <p:nvSpPr>
          <p:cNvPr id="18" name="Shape 15"/>
          <p:cNvSpPr/>
          <p:nvPr/>
        </p:nvSpPr>
        <p:spPr>
          <a:xfrm>
            <a:off x="228600" y="3611880"/>
            <a:ext cx="5788152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20040" y="3611880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 MITIGATION &amp; TRUST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228600" y="3950208"/>
            <a:ext cx="5788152" cy="1572768"/>
          </a:xfrm>
          <a:prstGeom prst="roundRect">
            <a:avLst>
              <a:gd name="adj" fmla="val 3488"/>
            </a:avLst>
          </a:prstGeom>
          <a:solidFill>
            <a:srgbClr val="EE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301752" y="3977640"/>
            <a:ext cx="5641848" cy="151790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Chronological split + purged embargo; train-only normalisation, thresholds and PCA; validation-only calibration.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Analogue memory uses strictly earlier initialisations; pre-registered improvement rule; 2022 scored once.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Support/OOD category + evidence strength shown next to every probability; weak support is visibly flagged.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provenance in the UI; forecaster makes the call — Sentinel only prioritises review.</a:t>
            </a:r>
            <a:endParaRPr lang="en-US" sz="200" dirty="0"/>
          </a:p>
        </p:txBody>
      </p:sp>
      <p:sp>
        <p:nvSpPr>
          <p:cNvPr id="22" name="Shape 19"/>
          <p:cNvSpPr/>
          <p:nvPr/>
        </p:nvSpPr>
        <p:spPr>
          <a:xfrm>
            <a:off x="6172200" y="3611880"/>
            <a:ext cx="5788152" cy="292608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263640" y="3611880"/>
            <a:ext cx="56052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 VIABILITY &amp; SCALE — path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6172200" y="3950208"/>
            <a:ext cx="5788152" cy="1572768"/>
          </a:xfrm>
          <a:prstGeom prst="roundRect">
            <a:avLst>
              <a:gd name="adj" fmla="val 3488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6281928" y="4069080"/>
            <a:ext cx="1280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281928" y="4069080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prototype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6510528" y="477316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10528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</a:t>
            </a:r>
            <a:endParaRPr lang="en-US" sz="800" dirty="0"/>
          </a:p>
        </p:txBody>
      </p:sp>
      <p:sp>
        <p:nvSpPr>
          <p:cNvPr id="29" name="Shape 26"/>
          <p:cNvSpPr/>
          <p:nvPr/>
        </p:nvSpPr>
        <p:spPr>
          <a:xfrm rot="5400000">
            <a:off x="7598664" y="4352544"/>
            <a:ext cx="82296" cy="90526"/>
          </a:xfrm>
          <a:prstGeom prst="triangl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7717536" y="4069080"/>
            <a:ext cx="1280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7717536" y="4069080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NCMRWF-compatible ingestion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7946136" y="477316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7946136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 rot="5400000">
            <a:off x="9034272" y="4352544"/>
            <a:ext cx="82296" cy="90526"/>
          </a:xfrm>
          <a:prstGeom prst="triangl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35" name="Shape 32"/>
          <p:cNvSpPr/>
          <p:nvPr/>
        </p:nvSpPr>
        <p:spPr>
          <a:xfrm>
            <a:off x="9153144" y="4069080"/>
            <a:ext cx="1280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9153144" y="4069080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reliability service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9381744" y="477316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9381744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 rot="5400000">
            <a:off x="10469880" y="4352544"/>
            <a:ext cx="82296" cy="90526"/>
          </a:xfrm>
          <a:prstGeom prst="triangle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10588752" y="4069080"/>
            <a:ext cx="1280160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588752" y="4069080"/>
            <a:ext cx="1280160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Regional / national deployment</a:t>
            </a:r>
            <a:endParaRPr lang="en-US" sz="950" dirty="0"/>
          </a:p>
        </p:txBody>
      </p:sp>
      <p:sp>
        <p:nvSpPr>
          <p:cNvPr id="42" name="Shape 39"/>
          <p:cNvSpPr/>
          <p:nvPr/>
        </p:nvSpPr>
        <p:spPr>
          <a:xfrm>
            <a:off x="10817352" y="4773168"/>
            <a:ext cx="822960" cy="219456"/>
          </a:xfrm>
          <a:prstGeom prst="roundRect">
            <a:avLst>
              <a:gd name="adj" fmla="val 20833"/>
            </a:avLst>
          </a:prstGeom>
          <a:solidFill>
            <a:srgbClr val="A6A6A6"/>
          </a:solidFill>
          <a:ln w="12700">
            <a:solidFill>
              <a:srgbClr val="A6A6A6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10817352" y="4773168"/>
            <a:ext cx="822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</a:t>
            </a:r>
            <a:endParaRPr lang="en-US" sz="800" dirty="0"/>
          </a:p>
        </p:txBody>
      </p:sp>
      <p:sp>
        <p:nvSpPr>
          <p:cNvPr id="44" name="Text 41"/>
          <p:cNvSpPr txBox="1"/>
          <p:nvPr/>
        </p:nvSpPr>
        <p:spPr>
          <a:xfrm>
            <a:off x="6281928" y="5047488"/>
            <a:ext cx="556869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variables after Z500: precipitation, temperature, wind (Phase 2). Adding a new source = one adapter; the target, models and UI are source-agnostic.</a:t>
            </a:r>
            <a:endParaRPr lang="en-US" sz="900" dirty="0"/>
          </a:p>
        </p:txBody>
      </p:sp>
      <p:sp>
        <p:nvSpPr>
          <p:cNvPr id="45" name="Shape 42"/>
          <p:cNvSpPr/>
          <p:nvPr/>
        </p:nvSpPr>
        <p:spPr>
          <a:xfrm>
            <a:off x="228600" y="5623560"/>
            <a:ext cx="11731752" cy="256032"/>
          </a:xfrm>
          <a:prstGeom prst="rect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320040" y="56235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STATUS — current vs planned</a:t>
            </a:r>
            <a:endParaRPr lang="en-US" sz="1500" dirty="0"/>
          </a:p>
        </p:txBody>
      </p:sp>
      <p:sp>
        <p:nvSpPr>
          <p:cNvPr id="47" name="Text 44"/>
          <p:cNvSpPr txBox="1"/>
          <p:nvPr/>
        </p:nvSpPr>
        <p:spPr>
          <a:xfrm>
            <a:off x="274320" y="5916168"/>
            <a:ext cx="116403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E5E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Implemented: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pipeline · labels · B0/B1/B2 · Sentinel + ablations · calibration · analogues · support/OOD · attribution · replay + verification · fingerprint · API · dashboard.   </a:t>
            </a:r>
            <a:pPr indent="0" marL="0">
              <a:buNone/>
            </a:pPr>
            <a:r>
              <a:rPr lang="en-US" sz="950" b="1" dirty="0">
                <a:solidFill>
                  <a:srgbClr val="7A4A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progress: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wind/MSLP dynamics group (dev split only).   </a:t>
            </a:r>
            <a:pPr indent="0" marL="0">
              <a:buNone/>
            </a:pPr>
            <a:r>
              <a:rPr lang="en-US" sz="950" b="1" dirty="0">
                <a:solidFill>
                  <a:srgbClr val="7F7F7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Planned: </a:t>
            </a:r>
            <a:pPr indent="0" marL="0">
              <a:buNone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NCMRWF ingestion, live operation.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1143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IMPACT AND BENEFITS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035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Helping forecasters answer: where to look, when to be cautious, why, how strong the evidence is — and what happened</a:t>
            </a:r>
            <a:endParaRPr lang="en-US" sz="1200" dirty="0"/>
          </a:p>
        </p:txBody>
      </p:sp>
      <p:pic>
        <p:nvPicPr>
          <p:cNvPr id="6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3152"/>
            <a:ext cx="187452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987552"/>
            <a:ext cx="2834640" cy="292608"/>
          </a:xfrm>
          <a:prstGeom prst="rect">
            <a:avLst/>
          </a:prstGeom>
          <a:solidFill>
            <a:srgbClr val="7B1E2B"/>
          </a:solidFill>
          <a:ln w="12700">
            <a:solidFill>
              <a:srgbClr val="7B1E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987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   KEY USERS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" y="132588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FBEFF1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01752" y="1353312"/>
            <a:ext cx="2688336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NCMRWF medium-range forecasters (primary)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Weather-sensitive operational decision makers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Disaster-management stakeholders — via forecaster-reviewed guidance, not public warnings</a:t>
            </a:r>
            <a:endParaRPr lang="en-US" sz="200" dirty="0"/>
          </a:p>
        </p:txBody>
      </p:sp>
      <p:sp>
        <p:nvSpPr>
          <p:cNvPr id="14" name="Shape 11"/>
          <p:cNvSpPr/>
          <p:nvPr/>
        </p:nvSpPr>
        <p:spPr>
          <a:xfrm>
            <a:off x="3193999" y="987552"/>
            <a:ext cx="2834640" cy="292608"/>
          </a:xfrm>
          <a:prstGeom prst="rect">
            <a:avLst/>
          </a:prstGeom>
          <a:solidFill>
            <a:srgbClr val="1E5E3A"/>
          </a:solidFill>
          <a:ln w="12700">
            <a:solidFill>
              <a:srgbClr val="1E5E3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285439" y="987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  OPERATIONAL BENEFITS</a:t>
            </a:r>
            <a:endParaRPr lang="en-US" sz="1500" dirty="0"/>
          </a:p>
        </p:txBody>
      </p:sp>
      <p:sp>
        <p:nvSpPr>
          <p:cNvPr id="16" name="Shape 13"/>
          <p:cNvSpPr/>
          <p:nvPr/>
        </p:nvSpPr>
        <p:spPr>
          <a:xfrm>
            <a:off x="3193999" y="132588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EEF6F0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3267151" y="1353312"/>
            <a:ext cx="2688336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Earlier identification of regions where the forecast may be unreliable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Lead-time-aware: Day 1–10 trajectory + peak-risk day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Reduced manual screening: transparent review-priority queue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Transparent, number-backed reasons</a:t>
            </a:r>
            <a:endParaRPr lang="en-US" sz="200" dirty="0"/>
          </a:p>
        </p:txBody>
      </p:sp>
      <p:sp>
        <p:nvSpPr>
          <p:cNvPr id="18" name="Shape 15"/>
          <p:cNvSpPr/>
          <p:nvPr/>
        </p:nvSpPr>
        <p:spPr>
          <a:xfrm>
            <a:off x="6159398" y="987552"/>
            <a:ext cx="2834640" cy="292608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250838" y="987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   FORECAST KNOWLEDGE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6159398" y="132588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EE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232550" y="1353312"/>
            <a:ext cx="2688336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Historical forecast-state memory grows with every verified forecast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fingerprints (position/phase, amplitude/structure, residual)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feedback per region and lead day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Reusable, auditable evidence</a:t>
            </a:r>
            <a:endParaRPr lang="en-US" sz="200" dirty="0"/>
          </a:p>
        </p:txBody>
      </p:sp>
      <p:sp>
        <p:nvSpPr>
          <p:cNvPr id="22" name="Shape 19"/>
          <p:cNvSpPr/>
          <p:nvPr/>
        </p:nvSpPr>
        <p:spPr>
          <a:xfrm>
            <a:off x="9124798" y="987552"/>
            <a:ext cx="2834640" cy="292608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9216238" y="987552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   STRATEGIC VALUE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124798" y="1325880"/>
            <a:ext cx="2834640" cy="2148840"/>
          </a:xfrm>
          <a:prstGeom prst="roundRect">
            <a:avLst>
              <a:gd name="adj" fmla="val 2553"/>
            </a:avLst>
          </a:prstGeom>
          <a:solidFill>
            <a:srgbClr val="F2EEF8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197950" y="1353312"/>
            <a:ext cx="2688336" cy="209397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indent="0" marL="0">
              <a:spcAft>
                <a:spcPts val="100"/>
              </a:spcAft>
              <a:buNone/>
            </a:pP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interpretation of medium-range forecast reliability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Supports weather-sensitive planning with qualified confidence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Source-agnostic architecture that can sit on NCMRWF ensembles (planned)</a:t>
            </a:r>
            <a:endParaRPr lang="en-US" sz="200" dirty="0"/>
          </a:p>
          <a:p>
            <a:pPr marL="127000" indent="-127000">
              <a:spcAft>
                <a:spcPts val="100"/>
              </a:spcAft>
              <a:buSzPct val="10000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lives-saved or savings figures claimed — not yet measured</a:t>
            </a:r>
            <a:endParaRPr lang="en-US" sz="200" dirty="0"/>
          </a:p>
        </p:txBody>
      </p:sp>
      <p:sp>
        <p:nvSpPr>
          <p:cNvPr id="26" name="Shape 23"/>
          <p:cNvSpPr/>
          <p:nvPr/>
        </p:nvSpPr>
        <p:spPr>
          <a:xfrm>
            <a:off x="228600" y="3584448"/>
            <a:ext cx="11731752" cy="292608"/>
          </a:xfrm>
          <a:prstGeom prst="rect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320040" y="358444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REAL-WORLD IMPACT SCENARIO — replayed on a real 2022 case (2022-02-02 12 UTC, hidden-bust stress case)</a:t>
            </a:r>
            <a:endParaRPr lang="en-US" sz="1500" dirty="0"/>
          </a:p>
        </p:txBody>
      </p:sp>
      <p:sp>
        <p:nvSpPr>
          <p:cNvPr id="28" name="Shape 25"/>
          <p:cNvSpPr/>
          <p:nvPr/>
        </p:nvSpPr>
        <p:spPr>
          <a:xfrm>
            <a:off x="228600" y="3959352"/>
            <a:ext cx="1463040" cy="2468880"/>
          </a:xfrm>
          <a:prstGeom prst="roundRect">
            <a:avLst>
              <a:gd name="adj" fmla="val 3750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77240" y="4032504"/>
            <a:ext cx="365760" cy="365760"/>
          </a:xfrm>
          <a:prstGeom prst="ellips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777240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200" dirty="0"/>
          </a:p>
        </p:txBody>
      </p:sp>
      <p:sp>
        <p:nvSpPr>
          <p:cNvPr id="31" name="Text 28"/>
          <p:cNvSpPr txBox="1"/>
          <p:nvPr/>
        </p:nvSpPr>
        <p:spPr>
          <a:xfrm>
            <a:off x="283464" y="4434840"/>
            <a:ext cx="13533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 issued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IFS ENS 50-member run; Sentinel sees only init-time information (blind mode)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 rot="5400000">
            <a:off x="1714500" y="416966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1819656" y="3959352"/>
            <a:ext cx="1463040" cy="2468880"/>
          </a:xfrm>
          <a:prstGeom prst="roundRect">
            <a:avLst>
              <a:gd name="adj" fmla="val 3750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2368296" y="4032504"/>
            <a:ext cx="365760" cy="365760"/>
          </a:xfrm>
          <a:prstGeom prst="ellips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2368296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200" dirty="0"/>
          </a:p>
        </p:txBody>
      </p:sp>
      <p:sp>
        <p:nvSpPr>
          <p:cNvPr id="36" name="Text 33"/>
          <p:cNvSpPr txBox="1"/>
          <p:nvPr/>
        </p:nvSpPr>
        <p:spPr>
          <a:xfrm>
            <a:off x="1874520" y="4434840"/>
            <a:ext cx="13533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Reliability screened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64 regions × Day 1–10 scored; calibrated risk vs B2 vs climatology</a:t>
            </a:r>
            <a:endParaRPr lang="en-US" sz="1100" dirty="0"/>
          </a:p>
        </p:txBody>
      </p:sp>
      <p:sp>
        <p:nvSpPr>
          <p:cNvPr id="37" name="Shape 34"/>
          <p:cNvSpPr/>
          <p:nvPr/>
        </p:nvSpPr>
        <p:spPr>
          <a:xfrm rot="5400000">
            <a:off x="3305556" y="416966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8" name="Shape 35"/>
          <p:cNvSpPr/>
          <p:nvPr/>
        </p:nvSpPr>
        <p:spPr>
          <a:xfrm>
            <a:off x="3410712" y="3959352"/>
            <a:ext cx="1463040" cy="2468880"/>
          </a:xfrm>
          <a:prstGeom prst="roundRect">
            <a:avLst>
              <a:gd name="adj" fmla="val 3750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9" name="Shape 36"/>
          <p:cNvSpPr/>
          <p:nvPr/>
        </p:nvSpPr>
        <p:spPr>
          <a:xfrm>
            <a:off x="3959352" y="4032504"/>
            <a:ext cx="365760" cy="365760"/>
          </a:xfrm>
          <a:prstGeom prst="ellips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3959352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Text 38"/>
          <p:cNvSpPr txBox="1"/>
          <p:nvPr/>
        </p:nvSpPr>
        <p:spPr>
          <a:xfrm>
            <a:off x="3465576" y="4434840"/>
            <a:ext cx="13533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Risky region identified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R0607 Himalaya/Tibetan Plateau, Day 3: 25% risk (climatology 10%), evidence WEAK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 rot="5400000">
            <a:off x="4896612" y="416966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3" name="Shape 40"/>
          <p:cNvSpPr/>
          <p:nvPr/>
        </p:nvSpPr>
        <p:spPr>
          <a:xfrm>
            <a:off x="5001768" y="3959352"/>
            <a:ext cx="1463040" cy="2468880"/>
          </a:xfrm>
          <a:prstGeom prst="roundRect">
            <a:avLst>
              <a:gd name="adj" fmla="val 3750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4" name="Shape 41"/>
          <p:cNvSpPr/>
          <p:nvPr/>
        </p:nvSpPr>
        <p:spPr>
          <a:xfrm>
            <a:off x="5550408" y="4032504"/>
            <a:ext cx="365760" cy="365760"/>
          </a:xfrm>
          <a:prstGeom prst="ellips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5550408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5056632" y="4434840"/>
            <a:ext cx="13533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Forecaster investigates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Evidence A–E: spread at 100th pct, anomaly, 30 analogues, revision, recent errors</a:t>
            </a:r>
            <a:endParaRPr lang="en-US" sz="1100" dirty="0"/>
          </a:p>
        </p:txBody>
      </p:sp>
      <p:sp>
        <p:nvSpPr>
          <p:cNvPr id="47" name="Shape 44"/>
          <p:cNvSpPr/>
          <p:nvPr/>
        </p:nvSpPr>
        <p:spPr>
          <a:xfrm rot="5400000">
            <a:off x="6487668" y="416966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8" name="Shape 45"/>
          <p:cNvSpPr/>
          <p:nvPr/>
        </p:nvSpPr>
        <p:spPr>
          <a:xfrm>
            <a:off x="6592824" y="3959352"/>
            <a:ext cx="1463040" cy="2468880"/>
          </a:xfrm>
          <a:prstGeom prst="roundRect">
            <a:avLst>
              <a:gd name="adj" fmla="val 3750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7141464" y="4032504"/>
            <a:ext cx="365760" cy="365760"/>
          </a:xfrm>
          <a:prstGeom prst="ellips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7141464" y="40325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200" dirty="0"/>
          </a:p>
        </p:txBody>
      </p:sp>
      <p:sp>
        <p:nvSpPr>
          <p:cNvPr id="51" name="Text 48"/>
          <p:cNvSpPr txBox="1"/>
          <p:nvPr/>
        </p:nvSpPr>
        <p:spPr>
          <a:xfrm>
            <a:off x="6647688" y="4434840"/>
            <a:ext cx="1353312" cy="19385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A4A12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Verified + memory updated</a:t>
            </a:r>
            <a:endParaRPr lang="en-US" sz="11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ERA5 reveal: bust at Day 3; fingerprint residual/mixed stored for future analogues</a:t>
            </a:r>
            <a:endParaRPr lang="en-US" sz="1100" dirty="0"/>
          </a:p>
        </p:txBody>
      </p:sp>
      <p:pic>
        <p:nvPicPr>
          <p:cNvPr id="52" name="Image 1" descr="/tmp/claude-1000/-home-vishant-forecast-bust-sentinel/dc2c974e-77bd-4d99-b537-754c3ef0efd7/scratchpad/shots/when_revea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1592" y="3959352"/>
            <a:ext cx="1873616" cy="2194560"/>
          </a:xfrm>
          <a:prstGeom prst="rect">
            <a:avLst/>
          </a:prstGeom>
        </p:spPr>
      </p:pic>
      <p:sp>
        <p:nvSpPr>
          <p:cNvPr id="53" name="Shape 49"/>
          <p:cNvSpPr/>
          <p:nvPr/>
        </p:nvSpPr>
        <p:spPr>
          <a:xfrm>
            <a:off x="9121592" y="3959352"/>
            <a:ext cx="1873616" cy="219456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8183880" y="61813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case in the prototype after “Reveal verification” (real replay output)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28600" y="128016"/>
            <a:ext cx="1143000" cy="56692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228600" y="128016"/>
            <a:ext cx="11430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CLOCKED</a:t>
            </a:r>
            <a:endParaRPr lang="en-US" sz="900" dirty="0"/>
          </a:p>
        </p:txBody>
      </p:sp>
      <p:sp>
        <p:nvSpPr>
          <p:cNvPr id="4" name="Text 2"/>
          <p:cNvSpPr txBox="1"/>
          <p:nvPr/>
        </p:nvSpPr>
        <p:spPr>
          <a:xfrm>
            <a:off x="1554480" y="9144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AND REFERENCES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554480" y="603504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i="1" dirty="0">
                <a:solidFill>
                  <a:srgbClr val="7B1E2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Built on public research data and established forecast-verification science</a:t>
            </a:r>
            <a:endParaRPr lang="en-US" sz="1200" dirty="0"/>
          </a:p>
        </p:txBody>
      </p:sp>
      <p:pic>
        <p:nvPicPr>
          <p:cNvPr id="6" name="Image 0" descr="/tmp/claude-1000/-home-vishant-forecast-bust-sentinel/dc2c974e-77bd-4d99-b537-754c3ef0efd7/scratchpad/logo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104120" y="73152"/>
            <a:ext cx="1874520" cy="8046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0070C0"/>
          </a:solidFill>
          <a:ln w="12700">
            <a:solidFill>
              <a:srgbClr val="0070C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743200" y="6537960"/>
            <a:ext cx="6702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@SIH Idea submission  ·  Team OVER_CLOCKED (174190)  ·  SIH26079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11338560" y="6537960"/>
            <a:ext cx="548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28600" y="987552"/>
            <a:ext cx="6035040" cy="310896"/>
          </a:xfrm>
          <a:prstGeom prst="rect">
            <a:avLst/>
          </a:prstGeom>
          <a:solidFill>
            <a:srgbClr val="1F3864"/>
          </a:solidFill>
          <a:ln w="12700">
            <a:solidFill>
              <a:srgbClr val="1F386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0040" y="987552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Research Sources</a:t>
            </a:r>
            <a:endParaRPr lang="en-US" sz="1500" dirty="0"/>
          </a:p>
        </p:txBody>
      </p:sp>
      <p:sp>
        <p:nvSpPr>
          <p:cNvPr id="12" name="Shape 9"/>
          <p:cNvSpPr/>
          <p:nvPr/>
        </p:nvSpPr>
        <p:spPr>
          <a:xfrm>
            <a:off x="228600" y="1344168"/>
            <a:ext cx="6035040" cy="5102352"/>
          </a:xfrm>
          <a:prstGeom prst="roundRect">
            <a:avLst>
              <a:gd name="adj" fmla="val 1075"/>
            </a:avLst>
          </a:prstGeom>
          <a:solidFill>
            <a:srgbClr val="EEF2F9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20040" y="1417320"/>
            <a:ext cx="5852160" cy="361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SIH26079 problem statement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MoES / NCMRWF, Smart India Hackathon 2026.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Rasp, S. et al. (2024)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WeatherBench 2: A benchmark for the next generation of data-driven global weather models. JAMES 16, e2023MS004019. (IFS ENS + ERA5 archive used)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Hersbach, H. et al. (2020)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ERA5 global reanalysis. Q. J. R. Meteorol. Soc. 146, 1999–2049.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Bougeault, P. et al. (2010)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The THORPEX Interactive Grand Global Ensemble (TIGGE). Bull. Amer. Meteor. Soc. 91, 1059–1072.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Leutbecher, M. &amp; Palmer, T. N. (2008)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Ensemble forecasting. J. Comput. Phys. 227, 3515–3539. (spread–skill)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Rodwell, M. J. et al. (2013)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Characteristics of occasional poor medium-range weather forecasts for Europe. Bull. Amer. Meteor. Soc. 94, 1393–1405. (forecast busts)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Chen, T. &amp; Guestrin, C. (2016)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XGBoost: A scalable tree boosting system. Proc. KDD 2016, 785–794.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Font typeface="+mj-lt"/>
              <a:buAutoNum type="arabicPeriod" startAt="1"/>
            </a:pPr>
            <a:r>
              <a:rPr lang="en-US" sz="1100" b="1" dirty="0">
                <a:solidFill>
                  <a:srgbClr val="1F386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Lundberg, S. M. et al. (2020)</a:t>
            </a:r>
            <a:pPr indent="0" marL="0">
              <a:spcAft>
                <a:spcPts val="700"/>
              </a:spcAft>
              <a:buNone/>
            </a:pPr>
            <a:r>
              <a:rPr lang="en-US" sz="11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From local explanations to global understanding with explainable AI for trees. Nature Machine Intelligence 2, 56–67. (TreeSHAP)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320040" y="5074920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3864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Links &amp; Resources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320040" y="5349240"/>
            <a:ext cx="5852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GitHub repository: </a:t>
            </a:r>
            <a:pPr indent="0" marL="0">
              <a:spcAft>
                <a:spcPts val="300"/>
              </a:spcAft>
              <a:buNone/>
            </a:pPr>
            <a:r>
              <a:rPr lang="en-US" sz="1000" u="sng" dirty="0">
                <a:solidFill>
                  <a:srgbClr val="0070C0"/>
                </a:solidFill>
                <a:latin typeface="Arial" pitchFamily="34" charset="0"/>
                <a:ea typeface="Arial" pitchFamily="34" charset="-122"/>
                <a:cs typeface="Arial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github.com/Vishant-1001/hmmm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Prototype: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 locally — scripts/serve.sh (FastAPI + built UI); no public deployment yet</a:t>
            </a:r>
            <a:endParaRPr lang="en-US" sz="10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0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Docs in repo: </a:t>
            </a:r>
            <a:pPr indent="0" marL="0">
              <a:spcAft>
                <a:spcPts val="3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methodology · leakage controls · evaluation · model card · limitations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400800" y="987552"/>
            <a:ext cx="5559552" cy="310896"/>
          </a:xfrm>
          <a:prstGeom prst="rect">
            <a:avLst/>
          </a:prstGeom>
          <a:solidFill>
            <a:srgbClr val="4B2A7B"/>
          </a:solidFill>
          <a:ln w="12700">
            <a:solidFill>
              <a:srgbClr val="4B2A7B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92240" y="987552"/>
            <a:ext cx="5376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Prototype Evidence (real 2022 replay / test artifacts)</a:t>
            </a:r>
            <a:endParaRPr lang="en-US" sz="1500" dirty="0"/>
          </a:p>
        </p:txBody>
      </p:sp>
      <p:pic>
        <p:nvPicPr>
          <p:cNvPr id="18" name="Image 1" descr="/tmp/claude-1000/-home-vishant-forecast-bust-sentinel/dc2c974e-77bd-4d99-b537-754c3ef0efd7/scratchpad/shots/pred_actua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140" y="1371600"/>
            <a:ext cx="2964873" cy="91440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7698140" y="1371600"/>
            <a:ext cx="2964873" cy="914400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400800" y="2313432"/>
            <a:ext cx="5559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 reveal: predicted vs actual busts, all regions, Day 1–10 (one case)</a:t>
            </a:r>
            <a:endParaRPr lang="en-US" sz="850" dirty="0"/>
          </a:p>
        </p:txBody>
      </p:sp>
      <p:pic>
        <p:nvPicPr>
          <p:cNvPr id="21" name="Image 2" descr="/tmp/claude-1000/-home-vishant-forecast-bust-sentinel/dc2c974e-77bd-4d99-b537-754c3ef0efd7/scratchpad/shots/an_dia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2589170"/>
            <a:ext cx="2724912" cy="1368764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400800" y="2589170"/>
            <a:ext cx="2724912" cy="1368764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23" name="Text 18"/>
          <p:cNvSpPr txBox="1"/>
          <p:nvPr/>
        </p:nvSpPr>
        <p:spPr>
          <a:xfrm>
            <a:off x="6400800" y="39959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Diagnostics incl. failure-signature agreement 0.409 vs 0.332</a:t>
            </a:r>
            <a:endParaRPr lang="en-US" sz="850" dirty="0"/>
          </a:p>
        </p:txBody>
      </p:sp>
      <p:pic>
        <p:nvPicPr>
          <p:cNvPr id="24" name="Image 3" descr="/tmp/claude-1000/-home-vishant-forecast-bust-sentinel/dc2c974e-77bd-4d99-b537-754c3ef0efd7/scratchpad/shots/an_skill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4994" y="2578608"/>
            <a:ext cx="1545805" cy="1389888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9824994" y="2578608"/>
            <a:ext cx="1545805" cy="1389888"/>
          </a:xfrm>
          <a:prstGeom prst="rect">
            <a:avLst/>
          </a:prstGeom>
          <a:ln w="9525">
            <a:solidFill>
              <a:srgbClr val="8C8C8C"/>
            </a:solidFill>
            <a:prstDash val="solid"/>
          </a:ln>
        </p:spPr>
      </p:sp>
      <p:sp>
        <p:nvSpPr>
          <p:cNvPr id="26" name="Text 20"/>
          <p:cNvSpPr txBox="1"/>
          <p:nvPr/>
        </p:nvSpPr>
        <p:spPr>
          <a:xfrm>
            <a:off x="9235440" y="3995928"/>
            <a:ext cx="27249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Spread–skill + ERA5 rank histogram (2022)</a:t>
            </a:r>
            <a:endParaRPr lang="en-US" sz="850" dirty="0"/>
          </a:p>
        </p:txBody>
      </p:sp>
      <p:sp>
        <p:nvSpPr>
          <p:cNvPr id="27" name="Shape 21"/>
          <p:cNvSpPr/>
          <p:nvPr/>
        </p:nvSpPr>
        <p:spPr>
          <a:xfrm>
            <a:off x="6400800" y="4407408"/>
            <a:ext cx="5559552" cy="274320"/>
          </a:xfrm>
          <a:prstGeom prst="rect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6492240" y="4407408"/>
            <a:ext cx="5376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Decision flow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6400800" y="4727448"/>
            <a:ext cx="5559552" cy="1719072"/>
          </a:xfrm>
          <a:prstGeom prst="roundRect">
            <a:avLst>
              <a:gd name="adj" fmla="val 3191"/>
            </a:avLst>
          </a:prstGeom>
          <a:solidFill>
            <a:srgbClr val="FBF4EA"/>
          </a:solidFill>
          <a:ln w="9525">
            <a:solidFill>
              <a:srgbClr val="D9D9D9"/>
            </a:solidFill>
            <a:prstDash val="solid"/>
          </a:ln>
        </p:spPr>
      </p:sp>
      <p:sp>
        <p:nvSpPr>
          <p:cNvPr id="30" name="Shape 24"/>
          <p:cNvSpPr/>
          <p:nvPr/>
        </p:nvSpPr>
        <p:spPr>
          <a:xfrm>
            <a:off x="64922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64922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</a:t>
            </a:r>
            <a:endParaRPr lang="en-US" sz="900" dirty="0"/>
          </a:p>
        </p:txBody>
      </p:sp>
      <p:sp>
        <p:nvSpPr>
          <p:cNvPr id="32" name="Shape 26"/>
          <p:cNvSpPr/>
          <p:nvPr/>
        </p:nvSpPr>
        <p:spPr>
          <a:xfrm rot="5400000">
            <a:off x="7301484" y="517550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3" name="Shape 27"/>
          <p:cNvSpPr/>
          <p:nvPr/>
        </p:nvSpPr>
        <p:spPr>
          <a:xfrm>
            <a:off x="74066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74066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Reliability model</a:t>
            </a:r>
            <a:endParaRPr lang="en-US" sz="900" dirty="0"/>
          </a:p>
        </p:txBody>
      </p:sp>
      <p:sp>
        <p:nvSpPr>
          <p:cNvPr id="35" name="Shape 29"/>
          <p:cNvSpPr/>
          <p:nvPr/>
        </p:nvSpPr>
        <p:spPr>
          <a:xfrm rot="5400000">
            <a:off x="8215884" y="517550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6" name="Shape 30"/>
          <p:cNvSpPr/>
          <p:nvPr/>
        </p:nvSpPr>
        <p:spPr>
          <a:xfrm>
            <a:off x="83210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83210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+ evidence</a:t>
            </a:r>
            <a:endParaRPr lang="en-US" sz="900" dirty="0"/>
          </a:p>
        </p:txBody>
      </p:sp>
      <p:sp>
        <p:nvSpPr>
          <p:cNvPr id="38" name="Shape 32"/>
          <p:cNvSpPr/>
          <p:nvPr/>
        </p:nvSpPr>
        <p:spPr>
          <a:xfrm rot="5400000">
            <a:off x="9130284" y="517550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92354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0" name="Text 34"/>
          <p:cNvSpPr txBox="1"/>
          <p:nvPr/>
        </p:nvSpPr>
        <p:spPr>
          <a:xfrm>
            <a:off x="92354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Forecaster review</a:t>
            </a:r>
            <a:endParaRPr lang="en-US" sz="900" dirty="0"/>
          </a:p>
        </p:txBody>
      </p:sp>
      <p:sp>
        <p:nvSpPr>
          <p:cNvPr id="41" name="Shape 35"/>
          <p:cNvSpPr/>
          <p:nvPr/>
        </p:nvSpPr>
        <p:spPr>
          <a:xfrm rot="5400000">
            <a:off x="10044684" y="517550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2" name="Shape 36"/>
          <p:cNvSpPr/>
          <p:nvPr/>
        </p:nvSpPr>
        <p:spPr>
          <a:xfrm>
            <a:off x="101498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FFFFFF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101498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Verification</a:t>
            </a:r>
            <a:endParaRPr lang="en-US" sz="900" dirty="0"/>
          </a:p>
        </p:txBody>
      </p:sp>
      <p:sp>
        <p:nvSpPr>
          <p:cNvPr id="44" name="Shape 38"/>
          <p:cNvSpPr/>
          <p:nvPr/>
        </p:nvSpPr>
        <p:spPr>
          <a:xfrm rot="5400000">
            <a:off x="10959084" y="5175504"/>
            <a:ext cx="82296" cy="90526"/>
          </a:xfrm>
          <a:prstGeom prst="triangle">
            <a:avLst/>
          </a:prstGeom>
          <a:solidFill>
            <a:srgbClr val="7A4A12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11064240" y="4892040"/>
            <a:ext cx="786384" cy="658368"/>
          </a:xfrm>
          <a:prstGeom prst="roundRect">
            <a:avLst>
              <a:gd name="adj" fmla="val 6944"/>
            </a:avLst>
          </a:prstGeom>
          <a:solidFill>
            <a:srgbClr val="4B2A7B"/>
          </a:solidFill>
          <a:ln w="12700">
            <a:solidFill>
              <a:srgbClr val="7A4A12"/>
            </a:solidFill>
            <a:prstDash val="solid"/>
          </a:ln>
        </p:spPr>
      </p:sp>
      <p:sp>
        <p:nvSpPr>
          <p:cNvPr id="46" name="Text 40"/>
          <p:cNvSpPr txBox="1"/>
          <p:nvPr/>
        </p:nvSpPr>
        <p:spPr>
          <a:xfrm>
            <a:off x="11064240" y="4892040"/>
            <a:ext cx="786384" cy="6583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memory</a:t>
            </a:r>
            <a:endParaRPr lang="en-US" sz="900" dirty="0"/>
          </a:p>
        </p:txBody>
      </p:sp>
      <p:sp>
        <p:nvSpPr>
          <p:cNvPr id="47" name="Text 41"/>
          <p:cNvSpPr txBox="1"/>
          <p:nvPr/>
        </p:nvSpPr>
        <p:spPr>
          <a:xfrm>
            <a:off x="6492240" y="566928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Failure memory feeds the analogue search for the next forecast (loop closed in replay; live operation planned).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Forecast Bust Sentinel — SIH26079</dc:title>
  <dc:subject>PptxGenJS Presentation</dc:subject>
  <dc:creator>Team OVER_CLOCKED (174190)</dc:creator>
  <cp:lastModifiedBy>Team OVER_CLOCKED (174190)</cp:lastModifiedBy>
  <cp:revision>1</cp:revision>
  <dcterms:created xsi:type="dcterms:W3CDTF">2026-09-29T13:06:55Z</dcterms:created>
  <dcterms:modified xsi:type="dcterms:W3CDTF">2026-09-29T13:06:55Z</dcterms:modified>
</cp:coreProperties>
</file>